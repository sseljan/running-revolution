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1" name="unknown.png" descr="unknown.png"/>
          <p:cNvPicPr>
            <a:picLocks noChangeAspect="0"/>
          </p:cNvPicPr>
          <p:nvPr/>
        </p:nvPicPr>
        <p:blipFill>
          <a:blip r:embed="rId2">
            <a:extLst/>
          </a:blip>
          <a:srcRect l="0" t="0" r="0" b="0"/>
          <a:stretch>
            <a:fillRect/>
          </a:stretch>
        </p:blipFill>
        <p:spPr>
          <a:xfrm>
            <a:off x="57810" y="-789356"/>
            <a:ext cx="24268453" cy="14116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5" y="4314"/>
                </a:moveTo>
                <a:cubicBezTo>
                  <a:pt x="13645" y="4307"/>
                  <a:pt x="16299" y="4318"/>
                  <a:pt x="16413" y="4337"/>
                </a:cubicBezTo>
                <a:lnTo>
                  <a:pt x="16621" y="4370"/>
                </a:lnTo>
                <a:lnTo>
                  <a:pt x="16628" y="4839"/>
                </a:lnTo>
                <a:lnTo>
                  <a:pt x="16634" y="5308"/>
                </a:lnTo>
                <a:lnTo>
                  <a:pt x="18280" y="5320"/>
                </a:lnTo>
                <a:cubicBezTo>
                  <a:pt x="19359" y="5328"/>
                  <a:pt x="19926" y="5347"/>
                  <a:pt x="19926" y="5377"/>
                </a:cubicBezTo>
                <a:cubicBezTo>
                  <a:pt x="19926" y="5407"/>
                  <a:pt x="19357" y="5431"/>
                  <a:pt x="18285" y="5446"/>
                </a:cubicBezTo>
                <a:lnTo>
                  <a:pt x="16643" y="5469"/>
                </a:lnTo>
                <a:lnTo>
                  <a:pt x="16639" y="6898"/>
                </a:lnTo>
                <a:lnTo>
                  <a:pt x="16634" y="8328"/>
                </a:lnTo>
                <a:lnTo>
                  <a:pt x="17558" y="8340"/>
                </a:lnTo>
                <a:cubicBezTo>
                  <a:pt x="18155" y="8348"/>
                  <a:pt x="18481" y="8368"/>
                  <a:pt x="18481" y="8398"/>
                </a:cubicBezTo>
                <a:cubicBezTo>
                  <a:pt x="18481" y="8427"/>
                  <a:pt x="18161" y="8448"/>
                  <a:pt x="17575" y="8455"/>
                </a:cubicBezTo>
                <a:cubicBezTo>
                  <a:pt x="16896" y="8464"/>
                  <a:pt x="16663" y="8481"/>
                  <a:pt x="16651" y="8522"/>
                </a:cubicBezTo>
                <a:cubicBezTo>
                  <a:pt x="16642" y="8552"/>
                  <a:pt x="16635" y="9675"/>
                  <a:pt x="16635" y="11016"/>
                </a:cubicBezTo>
                <a:lnTo>
                  <a:pt x="16634" y="13453"/>
                </a:lnTo>
                <a:lnTo>
                  <a:pt x="17558" y="13465"/>
                </a:lnTo>
                <a:cubicBezTo>
                  <a:pt x="18155" y="13473"/>
                  <a:pt x="18481" y="13493"/>
                  <a:pt x="18481" y="13523"/>
                </a:cubicBezTo>
                <a:cubicBezTo>
                  <a:pt x="18481" y="13552"/>
                  <a:pt x="18153" y="13577"/>
                  <a:pt x="17562" y="13592"/>
                </a:cubicBezTo>
                <a:lnTo>
                  <a:pt x="16643" y="13614"/>
                </a:lnTo>
                <a:lnTo>
                  <a:pt x="16638" y="16108"/>
                </a:lnTo>
                <a:cubicBezTo>
                  <a:pt x="16632" y="18926"/>
                  <a:pt x="16647" y="18717"/>
                  <a:pt x="16454" y="18717"/>
                </a:cubicBezTo>
                <a:cubicBezTo>
                  <a:pt x="16397" y="18717"/>
                  <a:pt x="16344" y="18738"/>
                  <a:pt x="16337" y="18763"/>
                </a:cubicBezTo>
                <a:cubicBezTo>
                  <a:pt x="16322" y="18814"/>
                  <a:pt x="4854" y="18830"/>
                  <a:pt x="4829" y="18778"/>
                </a:cubicBezTo>
                <a:cubicBezTo>
                  <a:pt x="4821" y="18761"/>
                  <a:pt x="4815" y="17588"/>
                  <a:pt x="4815" y="16170"/>
                </a:cubicBezTo>
                <a:lnTo>
                  <a:pt x="4815" y="13593"/>
                </a:lnTo>
                <a:lnTo>
                  <a:pt x="4185" y="13581"/>
                </a:lnTo>
                <a:cubicBezTo>
                  <a:pt x="3784" y="13573"/>
                  <a:pt x="3556" y="13552"/>
                  <a:pt x="3556" y="13523"/>
                </a:cubicBezTo>
                <a:cubicBezTo>
                  <a:pt x="3556" y="13494"/>
                  <a:pt x="3784" y="13473"/>
                  <a:pt x="4185" y="13465"/>
                </a:cubicBezTo>
                <a:lnTo>
                  <a:pt x="4815" y="13453"/>
                </a:lnTo>
                <a:lnTo>
                  <a:pt x="4815" y="10960"/>
                </a:lnTo>
                <a:lnTo>
                  <a:pt x="4815" y="8467"/>
                </a:lnTo>
                <a:lnTo>
                  <a:pt x="4207" y="8455"/>
                </a:lnTo>
                <a:cubicBezTo>
                  <a:pt x="3821" y="8448"/>
                  <a:pt x="3600" y="8427"/>
                  <a:pt x="3600" y="8398"/>
                </a:cubicBezTo>
                <a:cubicBezTo>
                  <a:pt x="3600" y="8368"/>
                  <a:pt x="3821" y="8347"/>
                  <a:pt x="4207" y="8339"/>
                </a:cubicBezTo>
                <a:lnTo>
                  <a:pt x="4815" y="8327"/>
                </a:lnTo>
                <a:lnTo>
                  <a:pt x="4815" y="6888"/>
                </a:lnTo>
                <a:lnTo>
                  <a:pt x="4815" y="5450"/>
                </a:lnTo>
                <a:lnTo>
                  <a:pt x="4667" y="5436"/>
                </a:lnTo>
                <a:cubicBezTo>
                  <a:pt x="4476" y="5419"/>
                  <a:pt x="4476" y="5336"/>
                  <a:pt x="4666" y="5318"/>
                </a:cubicBezTo>
                <a:lnTo>
                  <a:pt x="4813" y="5305"/>
                </a:lnTo>
                <a:lnTo>
                  <a:pt x="4819" y="4815"/>
                </a:lnTo>
                <a:lnTo>
                  <a:pt x="4826" y="4324"/>
                </a:lnTo>
                <a:lnTo>
                  <a:pt x="10515" y="4314"/>
                </a:lnTo>
                <a:close/>
              </a:path>
            </a:pathLst>
          </a:custGeom>
          <a:ln w="12700">
            <a:miter lim="400000"/>
          </a:ln>
        </p:spPr>
      </p:pic>
      <p:sp>
        <p:nvSpPr>
          <p:cNvPr id="172" name="Before the revolution it was hard to be a runner because it wasn’t considered acceptable. Almost no one ran after high school or college.…"/>
          <p:cNvSpPr txBox="1"/>
          <p:nvPr/>
        </p:nvSpPr>
        <p:spPr>
          <a:xfrm>
            <a:off x="5968991" y="3270520"/>
            <a:ext cx="12536776" cy="67484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b="1" sz="4400"/>
            </a:pPr>
            <a:r>
              <a:t>Before the revolution it was hard to be a runner because it wasn’t considered acceptable. Almost no one ran after high school or college. </a:t>
            </a:r>
          </a:p>
          <a:p>
            <a:pPr>
              <a:defRPr i="1" sz="4400"/>
            </a:pPr>
            <a:r>
              <a:t>“People often went out of their way to mock runners. Drivers would slow down and honk their horns.  “Get a horse!” They’d yell throwing a beer can or soda at the runner’s head”</a:t>
            </a:r>
          </a:p>
          <a:p>
            <a:pPr lvl="2">
              <a:defRPr sz="4400"/>
            </a:pPr>
            <a:r>
              <a:t>- Phil Knight, </a:t>
            </a:r>
            <a:r>
              <a:rPr i="1"/>
              <a:t>Shoe Dog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4" name="unknown.png" descr="unknown.png"/>
          <p:cNvPicPr>
            <a:picLocks noChangeAspect="0"/>
          </p:cNvPicPr>
          <p:nvPr/>
        </p:nvPicPr>
        <p:blipFill>
          <a:blip r:embed="rId2">
            <a:extLst/>
          </a:blip>
          <a:srcRect l="0" t="0" r="0" b="0"/>
          <a:stretch>
            <a:fillRect/>
          </a:stretch>
        </p:blipFill>
        <p:spPr>
          <a:xfrm>
            <a:off x="57745" y="-1288062"/>
            <a:ext cx="24268453" cy="14116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5" y="4314"/>
                </a:moveTo>
                <a:cubicBezTo>
                  <a:pt x="13645" y="4307"/>
                  <a:pt x="16299" y="4318"/>
                  <a:pt x="16413" y="4337"/>
                </a:cubicBezTo>
                <a:lnTo>
                  <a:pt x="16621" y="4370"/>
                </a:lnTo>
                <a:lnTo>
                  <a:pt x="16628" y="4839"/>
                </a:lnTo>
                <a:lnTo>
                  <a:pt x="16634" y="5308"/>
                </a:lnTo>
                <a:lnTo>
                  <a:pt x="18280" y="5320"/>
                </a:lnTo>
                <a:cubicBezTo>
                  <a:pt x="19359" y="5328"/>
                  <a:pt x="19926" y="5347"/>
                  <a:pt x="19926" y="5377"/>
                </a:cubicBezTo>
                <a:cubicBezTo>
                  <a:pt x="19926" y="5407"/>
                  <a:pt x="19357" y="5431"/>
                  <a:pt x="18285" y="5446"/>
                </a:cubicBezTo>
                <a:lnTo>
                  <a:pt x="16643" y="5469"/>
                </a:lnTo>
                <a:lnTo>
                  <a:pt x="16639" y="6898"/>
                </a:lnTo>
                <a:lnTo>
                  <a:pt x="16634" y="8328"/>
                </a:lnTo>
                <a:lnTo>
                  <a:pt x="17558" y="8340"/>
                </a:lnTo>
                <a:cubicBezTo>
                  <a:pt x="18155" y="8348"/>
                  <a:pt x="18481" y="8368"/>
                  <a:pt x="18481" y="8398"/>
                </a:cubicBezTo>
                <a:cubicBezTo>
                  <a:pt x="18481" y="8427"/>
                  <a:pt x="18161" y="8448"/>
                  <a:pt x="17575" y="8455"/>
                </a:cubicBezTo>
                <a:cubicBezTo>
                  <a:pt x="16896" y="8464"/>
                  <a:pt x="16663" y="8481"/>
                  <a:pt x="16651" y="8522"/>
                </a:cubicBezTo>
                <a:cubicBezTo>
                  <a:pt x="16642" y="8552"/>
                  <a:pt x="16635" y="9675"/>
                  <a:pt x="16635" y="11016"/>
                </a:cubicBezTo>
                <a:lnTo>
                  <a:pt x="16634" y="13453"/>
                </a:lnTo>
                <a:lnTo>
                  <a:pt x="17558" y="13465"/>
                </a:lnTo>
                <a:cubicBezTo>
                  <a:pt x="18155" y="13473"/>
                  <a:pt x="18481" y="13493"/>
                  <a:pt x="18481" y="13523"/>
                </a:cubicBezTo>
                <a:cubicBezTo>
                  <a:pt x="18481" y="13552"/>
                  <a:pt x="18153" y="13577"/>
                  <a:pt x="17562" y="13592"/>
                </a:cubicBezTo>
                <a:lnTo>
                  <a:pt x="16643" y="13614"/>
                </a:lnTo>
                <a:lnTo>
                  <a:pt x="16638" y="16108"/>
                </a:lnTo>
                <a:cubicBezTo>
                  <a:pt x="16632" y="18926"/>
                  <a:pt x="16647" y="18717"/>
                  <a:pt x="16454" y="18717"/>
                </a:cubicBezTo>
                <a:cubicBezTo>
                  <a:pt x="16397" y="18717"/>
                  <a:pt x="16344" y="18738"/>
                  <a:pt x="16337" y="18763"/>
                </a:cubicBezTo>
                <a:cubicBezTo>
                  <a:pt x="16322" y="18814"/>
                  <a:pt x="4854" y="18830"/>
                  <a:pt x="4829" y="18778"/>
                </a:cubicBezTo>
                <a:cubicBezTo>
                  <a:pt x="4821" y="18761"/>
                  <a:pt x="4815" y="17588"/>
                  <a:pt x="4815" y="16170"/>
                </a:cubicBezTo>
                <a:lnTo>
                  <a:pt x="4815" y="13593"/>
                </a:lnTo>
                <a:lnTo>
                  <a:pt x="4185" y="13581"/>
                </a:lnTo>
                <a:cubicBezTo>
                  <a:pt x="3784" y="13573"/>
                  <a:pt x="3556" y="13552"/>
                  <a:pt x="3556" y="13523"/>
                </a:cubicBezTo>
                <a:cubicBezTo>
                  <a:pt x="3556" y="13494"/>
                  <a:pt x="3784" y="13473"/>
                  <a:pt x="4185" y="13465"/>
                </a:cubicBezTo>
                <a:lnTo>
                  <a:pt x="4815" y="13453"/>
                </a:lnTo>
                <a:lnTo>
                  <a:pt x="4815" y="10960"/>
                </a:lnTo>
                <a:lnTo>
                  <a:pt x="4815" y="8467"/>
                </a:lnTo>
                <a:lnTo>
                  <a:pt x="4207" y="8455"/>
                </a:lnTo>
                <a:cubicBezTo>
                  <a:pt x="3821" y="8448"/>
                  <a:pt x="3600" y="8427"/>
                  <a:pt x="3600" y="8398"/>
                </a:cubicBezTo>
                <a:cubicBezTo>
                  <a:pt x="3600" y="8368"/>
                  <a:pt x="3821" y="8347"/>
                  <a:pt x="4207" y="8339"/>
                </a:cubicBezTo>
                <a:lnTo>
                  <a:pt x="4815" y="8327"/>
                </a:lnTo>
                <a:lnTo>
                  <a:pt x="4815" y="6888"/>
                </a:lnTo>
                <a:lnTo>
                  <a:pt x="4815" y="5450"/>
                </a:lnTo>
                <a:lnTo>
                  <a:pt x="4667" y="5436"/>
                </a:lnTo>
                <a:cubicBezTo>
                  <a:pt x="4476" y="5419"/>
                  <a:pt x="4476" y="5336"/>
                  <a:pt x="4666" y="5318"/>
                </a:cubicBezTo>
                <a:lnTo>
                  <a:pt x="4813" y="5305"/>
                </a:lnTo>
                <a:lnTo>
                  <a:pt x="4819" y="4815"/>
                </a:lnTo>
                <a:lnTo>
                  <a:pt x="4826" y="4324"/>
                </a:lnTo>
                <a:lnTo>
                  <a:pt x="10515" y="4314"/>
                </a:lnTo>
                <a:close/>
              </a:path>
            </a:pathLst>
          </a:custGeom>
          <a:ln w="12700">
            <a:miter lim="400000"/>
          </a:ln>
        </p:spPr>
      </p:pic>
      <p:sp>
        <p:nvSpPr>
          <p:cNvPr id="175" name="In 1963 Bill Bowerman created running clubs in Eugene that got everyday people running daily . This new found hobby made people think of running as normal.…"/>
          <p:cNvSpPr txBox="1"/>
          <p:nvPr/>
        </p:nvSpPr>
        <p:spPr>
          <a:xfrm>
            <a:off x="6146208" y="2003798"/>
            <a:ext cx="12536776" cy="9225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spAutoFit/>
          </a:bodyPr>
          <a:lstStyle/>
          <a:p>
            <a:pPr>
              <a:defRPr b="1" sz="4400"/>
            </a:pPr>
            <a:r>
              <a:t>In 1963 Bill Bowerman created running clubs in Eugene that got everyday people running daily . This new found hobby made people think of running as normal.</a:t>
            </a:r>
          </a:p>
          <a:p>
            <a:pPr>
              <a:defRPr b="1" sz="4400"/>
            </a:pPr>
            <a:r>
              <a:t>    </a:t>
            </a:r>
            <a:r>
              <a:rPr b="0" i="1"/>
              <a:t>“A new and healthful passion, commonplace this past year among the men of Eugene, finally has hit their womenfolk.      </a:t>
            </a:r>
            <a:br>
              <a:rPr b="0" i="1"/>
            </a:br>
            <a:r>
              <a:rPr b="0" i="1"/>
              <a:t>    They’re running all over the place, several dozens of them so far following the healthy foot steps of an estimated 1,500 to 3,000 men who are jogging almost daily”</a:t>
            </a:r>
            <a:r>
              <a:t> </a:t>
            </a:r>
            <a:br/>
            <a:r>
              <a:t>         </a:t>
            </a:r>
            <a:r>
              <a:rPr b="0"/>
              <a:t>- Ann Sullivan (</a:t>
            </a:r>
            <a:r>
              <a:rPr b="0" i="1"/>
              <a:t>Oregonian</a:t>
            </a:r>
            <a:r>
              <a:rPr b="0"/>
              <a:t>, 1965)</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7" name="unknown.png" descr="unknown.png"/>
          <p:cNvPicPr>
            <a:picLocks noChangeAspect="0"/>
          </p:cNvPicPr>
          <p:nvPr/>
        </p:nvPicPr>
        <p:blipFill>
          <a:blip r:embed="rId2">
            <a:extLst/>
          </a:blip>
          <a:srcRect l="0" t="0" r="0" b="0"/>
          <a:stretch>
            <a:fillRect/>
          </a:stretch>
        </p:blipFill>
        <p:spPr>
          <a:xfrm>
            <a:off x="57810" y="-789356"/>
            <a:ext cx="24268453" cy="14116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5" y="4314"/>
                </a:moveTo>
                <a:cubicBezTo>
                  <a:pt x="13645" y="4307"/>
                  <a:pt x="16299" y="4318"/>
                  <a:pt x="16413" y="4337"/>
                </a:cubicBezTo>
                <a:lnTo>
                  <a:pt x="16621" y="4370"/>
                </a:lnTo>
                <a:lnTo>
                  <a:pt x="16628" y="4839"/>
                </a:lnTo>
                <a:lnTo>
                  <a:pt x="16634" y="5308"/>
                </a:lnTo>
                <a:lnTo>
                  <a:pt x="18280" y="5320"/>
                </a:lnTo>
                <a:cubicBezTo>
                  <a:pt x="19359" y="5328"/>
                  <a:pt x="19926" y="5347"/>
                  <a:pt x="19926" y="5377"/>
                </a:cubicBezTo>
                <a:cubicBezTo>
                  <a:pt x="19926" y="5407"/>
                  <a:pt x="19357" y="5431"/>
                  <a:pt x="18285" y="5446"/>
                </a:cubicBezTo>
                <a:lnTo>
                  <a:pt x="16643" y="5469"/>
                </a:lnTo>
                <a:lnTo>
                  <a:pt x="16639" y="6898"/>
                </a:lnTo>
                <a:lnTo>
                  <a:pt x="16634" y="8328"/>
                </a:lnTo>
                <a:lnTo>
                  <a:pt x="17558" y="8340"/>
                </a:lnTo>
                <a:cubicBezTo>
                  <a:pt x="18155" y="8348"/>
                  <a:pt x="18481" y="8368"/>
                  <a:pt x="18481" y="8398"/>
                </a:cubicBezTo>
                <a:cubicBezTo>
                  <a:pt x="18481" y="8427"/>
                  <a:pt x="18161" y="8448"/>
                  <a:pt x="17575" y="8455"/>
                </a:cubicBezTo>
                <a:cubicBezTo>
                  <a:pt x="16896" y="8464"/>
                  <a:pt x="16663" y="8481"/>
                  <a:pt x="16651" y="8522"/>
                </a:cubicBezTo>
                <a:cubicBezTo>
                  <a:pt x="16642" y="8552"/>
                  <a:pt x="16635" y="9675"/>
                  <a:pt x="16635" y="11016"/>
                </a:cubicBezTo>
                <a:lnTo>
                  <a:pt x="16634" y="13453"/>
                </a:lnTo>
                <a:lnTo>
                  <a:pt x="17558" y="13465"/>
                </a:lnTo>
                <a:cubicBezTo>
                  <a:pt x="18155" y="13473"/>
                  <a:pt x="18481" y="13493"/>
                  <a:pt x="18481" y="13523"/>
                </a:cubicBezTo>
                <a:cubicBezTo>
                  <a:pt x="18481" y="13552"/>
                  <a:pt x="18153" y="13577"/>
                  <a:pt x="17562" y="13592"/>
                </a:cubicBezTo>
                <a:lnTo>
                  <a:pt x="16643" y="13614"/>
                </a:lnTo>
                <a:lnTo>
                  <a:pt x="16638" y="16108"/>
                </a:lnTo>
                <a:cubicBezTo>
                  <a:pt x="16632" y="18926"/>
                  <a:pt x="16647" y="18717"/>
                  <a:pt x="16454" y="18717"/>
                </a:cubicBezTo>
                <a:cubicBezTo>
                  <a:pt x="16397" y="18717"/>
                  <a:pt x="16344" y="18738"/>
                  <a:pt x="16337" y="18763"/>
                </a:cubicBezTo>
                <a:cubicBezTo>
                  <a:pt x="16322" y="18814"/>
                  <a:pt x="4854" y="18830"/>
                  <a:pt x="4829" y="18778"/>
                </a:cubicBezTo>
                <a:cubicBezTo>
                  <a:pt x="4821" y="18761"/>
                  <a:pt x="4815" y="17588"/>
                  <a:pt x="4815" y="16170"/>
                </a:cubicBezTo>
                <a:lnTo>
                  <a:pt x="4815" y="13593"/>
                </a:lnTo>
                <a:lnTo>
                  <a:pt x="4185" y="13581"/>
                </a:lnTo>
                <a:cubicBezTo>
                  <a:pt x="3784" y="13573"/>
                  <a:pt x="3556" y="13552"/>
                  <a:pt x="3556" y="13523"/>
                </a:cubicBezTo>
                <a:cubicBezTo>
                  <a:pt x="3556" y="13494"/>
                  <a:pt x="3784" y="13473"/>
                  <a:pt x="4185" y="13465"/>
                </a:cubicBezTo>
                <a:lnTo>
                  <a:pt x="4815" y="13453"/>
                </a:lnTo>
                <a:lnTo>
                  <a:pt x="4815" y="10960"/>
                </a:lnTo>
                <a:lnTo>
                  <a:pt x="4815" y="8467"/>
                </a:lnTo>
                <a:lnTo>
                  <a:pt x="4207" y="8455"/>
                </a:lnTo>
                <a:cubicBezTo>
                  <a:pt x="3821" y="8448"/>
                  <a:pt x="3600" y="8427"/>
                  <a:pt x="3600" y="8398"/>
                </a:cubicBezTo>
                <a:cubicBezTo>
                  <a:pt x="3600" y="8368"/>
                  <a:pt x="3821" y="8347"/>
                  <a:pt x="4207" y="8339"/>
                </a:cubicBezTo>
                <a:lnTo>
                  <a:pt x="4815" y="8327"/>
                </a:lnTo>
                <a:lnTo>
                  <a:pt x="4815" y="6888"/>
                </a:lnTo>
                <a:lnTo>
                  <a:pt x="4815" y="5450"/>
                </a:lnTo>
                <a:lnTo>
                  <a:pt x="4667" y="5436"/>
                </a:lnTo>
                <a:cubicBezTo>
                  <a:pt x="4476" y="5419"/>
                  <a:pt x="4476" y="5336"/>
                  <a:pt x="4666" y="5318"/>
                </a:cubicBezTo>
                <a:lnTo>
                  <a:pt x="4813" y="5305"/>
                </a:lnTo>
                <a:lnTo>
                  <a:pt x="4819" y="4815"/>
                </a:lnTo>
                <a:lnTo>
                  <a:pt x="4826" y="4324"/>
                </a:lnTo>
                <a:lnTo>
                  <a:pt x="10515" y="4314"/>
                </a:lnTo>
                <a:close/>
              </a:path>
            </a:pathLst>
          </a:custGeom>
          <a:ln w="12700">
            <a:miter lim="400000"/>
          </a:ln>
        </p:spPr>
      </p:pic>
      <p:sp>
        <p:nvSpPr>
          <p:cNvPr id="178" name="In the 1960s people would run in uncomfortable dress shoes. Nike saw that the running craze had begun and capitalized by making running shoes with more cushion and more traction. Running became easier and better for your feet. Thus the demand for running"/>
          <p:cNvSpPr txBox="1"/>
          <p:nvPr/>
        </p:nvSpPr>
        <p:spPr>
          <a:xfrm>
            <a:off x="5923612" y="3199577"/>
            <a:ext cx="12536776" cy="61381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a:lvl1pPr>
          </a:lstStyle>
          <a:p>
            <a:pPr/>
            <a:r>
              <a:t>In the 1960s people would run in uncomfortable dress shoes. Nike saw that the running craze had begun and capitalized by making running shoes with more cushion and more traction. Running became easier and better for your feet. Thus the demand for running shoe increased further and Nike doubled their yearly sales annually for almost a decade.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0" name="unknown.png" descr="unknown.png"/>
          <p:cNvPicPr>
            <a:picLocks noChangeAspect="0"/>
          </p:cNvPicPr>
          <p:nvPr/>
        </p:nvPicPr>
        <p:blipFill>
          <a:blip r:embed="rId2">
            <a:extLst/>
          </a:blip>
          <a:srcRect l="0" t="0" r="0" b="0"/>
          <a:stretch>
            <a:fillRect/>
          </a:stretch>
        </p:blipFill>
        <p:spPr>
          <a:xfrm>
            <a:off x="151209" y="-793150"/>
            <a:ext cx="24081582" cy="138592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6" y="4314"/>
                </a:moveTo>
                <a:cubicBezTo>
                  <a:pt x="13645" y="4308"/>
                  <a:pt x="16299" y="4318"/>
                  <a:pt x="16413" y="4337"/>
                </a:cubicBezTo>
                <a:lnTo>
                  <a:pt x="16621" y="4371"/>
                </a:lnTo>
                <a:lnTo>
                  <a:pt x="16628" y="4839"/>
                </a:lnTo>
                <a:lnTo>
                  <a:pt x="16634" y="5308"/>
                </a:lnTo>
                <a:lnTo>
                  <a:pt x="18280" y="5319"/>
                </a:lnTo>
                <a:cubicBezTo>
                  <a:pt x="19359" y="5327"/>
                  <a:pt x="19926" y="5347"/>
                  <a:pt x="19926" y="5377"/>
                </a:cubicBezTo>
                <a:cubicBezTo>
                  <a:pt x="19926" y="5407"/>
                  <a:pt x="19357" y="5431"/>
                  <a:pt x="18285" y="5446"/>
                </a:cubicBezTo>
                <a:lnTo>
                  <a:pt x="16643" y="5469"/>
                </a:lnTo>
                <a:lnTo>
                  <a:pt x="16639" y="6898"/>
                </a:lnTo>
                <a:lnTo>
                  <a:pt x="16634" y="8328"/>
                </a:lnTo>
                <a:lnTo>
                  <a:pt x="17558" y="8340"/>
                </a:lnTo>
                <a:cubicBezTo>
                  <a:pt x="18155" y="8347"/>
                  <a:pt x="18482" y="8368"/>
                  <a:pt x="18482" y="8397"/>
                </a:cubicBezTo>
                <a:cubicBezTo>
                  <a:pt x="18482" y="8427"/>
                  <a:pt x="18161" y="8448"/>
                  <a:pt x="17575" y="8455"/>
                </a:cubicBezTo>
                <a:cubicBezTo>
                  <a:pt x="16896" y="8464"/>
                  <a:pt x="16663" y="8481"/>
                  <a:pt x="16651" y="8522"/>
                </a:cubicBezTo>
                <a:cubicBezTo>
                  <a:pt x="16642" y="8553"/>
                  <a:pt x="16635" y="9675"/>
                  <a:pt x="16634" y="11016"/>
                </a:cubicBezTo>
                <a:lnTo>
                  <a:pt x="16634" y="13453"/>
                </a:lnTo>
                <a:lnTo>
                  <a:pt x="17558" y="13465"/>
                </a:lnTo>
                <a:cubicBezTo>
                  <a:pt x="18155" y="13473"/>
                  <a:pt x="18482" y="13494"/>
                  <a:pt x="18482" y="13523"/>
                </a:cubicBezTo>
                <a:cubicBezTo>
                  <a:pt x="18482" y="13553"/>
                  <a:pt x="18153" y="13577"/>
                  <a:pt x="17563" y="13592"/>
                </a:cubicBezTo>
                <a:lnTo>
                  <a:pt x="16643" y="13615"/>
                </a:lnTo>
                <a:lnTo>
                  <a:pt x="16638" y="16109"/>
                </a:lnTo>
                <a:cubicBezTo>
                  <a:pt x="16632" y="18926"/>
                  <a:pt x="16647" y="18717"/>
                  <a:pt x="16454" y="18717"/>
                </a:cubicBezTo>
                <a:cubicBezTo>
                  <a:pt x="16397" y="18717"/>
                  <a:pt x="16344" y="18738"/>
                  <a:pt x="16337" y="18763"/>
                </a:cubicBezTo>
                <a:cubicBezTo>
                  <a:pt x="16322" y="18814"/>
                  <a:pt x="4854" y="18830"/>
                  <a:pt x="4829" y="18778"/>
                </a:cubicBezTo>
                <a:cubicBezTo>
                  <a:pt x="4821" y="18761"/>
                  <a:pt x="4815" y="17588"/>
                  <a:pt x="4815" y="16170"/>
                </a:cubicBezTo>
                <a:lnTo>
                  <a:pt x="4815" y="13593"/>
                </a:lnTo>
                <a:lnTo>
                  <a:pt x="4186" y="13581"/>
                </a:lnTo>
                <a:cubicBezTo>
                  <a:pt x="3785" y="13573"/>
                  <a:pt x="3556" y="13552"/>
                  <a:pt x="3556" y="13523"/>
                </a:cubicBezTo>
                <a:cubicBezTo>
                  <a:pt x="3556" y="13494"/>
                  <a:pt x="3785" y="13473"/>
                  <a:pt x="4186" y="13465"/>
                </a:cubicBezTo>
                <a:lnTo>
                  <a:pt x="4815" y="13453"/>
                </a:lnTo>
                <a:lnTo>
                  <a:pt x="4815" y="10960"/>
                </a:lnTo>
                <a:lnTo>
                  <a:pt x="4815" y="8468"/>
                </a:lnTo>
                <a:lnTo>
                  <a:pt x="4207" y="8455"/>
                </a:lnTo>
                <a:cubicBezTo>
                  <a:pt x="3821" y="8448"/>
                  <a:pt x="3600" y="8426"/>
                  <a:pt x="3600" y="8397"/>
                </a:cubicBezTo>
                <a:cubicBezTo>
                  <a:pt x="3600" y="8368"/>
                  <a:pt x="3821" y="8348"/>
                  <a:pt x="4207" y="8340"/>
                </a:cubicBezTo>
                <a:lnTo>
                  <a:pt x="4815" y="8327"/>
                </a:lnTo>
                <a:lnTo>
                  <a:pt x="4815" y="6889"/>
                </a:lnTo>
                <a:lnTo>
                  <a:pt x="4815" y="5450"/>
                </a:lnTo>
                <a:lnTo>
                  <a:pt x="4667" y="5436"/>
                </a:lnTo>
                <a:cubicBezTo>
                  <a:pt x="4476" y="5419"/>
                  <a:pt x="4475" y="5335"/>
                  <a:pt x="4666" y="5318"/>
                </a:cubicBezTo>
                <a:lnTo>
                  <a:pt x="4813" y="5305"/>
                </a:lnTo>
                <a:lnTo>
                  <a:pt x="4819" y="4815"/>
                </a:lnTo>
                <a:lnTo>
                  <a:pt x="4826" y="4325"/>
                </a:lnTo>
                <a:lnTo>
                  <a:pt x="10516" y="4314"/>
                </a:lnTo>
                <a:close/>
              </a:path>
            </a:pathLst>
          </a:custGeom>
          <a:ln w="12700">
            <a:miter lim="400000"/>
          </a:ln>
        </p:spPr>
      </p:pic>
      <p:sp>
        <p:nvSpPr>
          <p:cNvPr id="181" name="The “Butte to Butte” is a community race in Eugene, OR that is one of the oldest races in America. It was started in 1973 by original Nike employee, Geoff Hollister. The Oregon Track Club also has had an important role in the success of the race. They ma"/>
          <p:cNvSpPr txBox="1"/>
          <p:nvPr/>
        </p:nvSpPr>
        <p:spPr>
          <a:xfrm>
            <a:off x="6317501" y="2833096"/>
            <a:ext cx="12174055" cy="695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4400"/>
            </a:lvl1pPr>
          </a:lstStyle>
          <a:p>
            <a:pPr/>
            <a:r>
              <a:t>The “Butte to Butte” is a community race in Eugene, OR that is one of the oldest races in America. It was started in 1973 by original Nike employee, Geoff Hollister. The Oregon Track Club also has had an important role in the success of the race. They made the race for everyone with a 4 ½ mile walk for older participants, a 5K for families, and prize money for the winners. The Butte to Butte was and is a great family race to get people jogging.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3" name="unknown.png" descr="unknown.png"/>
          <p:cNvPicPr>
            <a:picLocks noChangeAspect="0"/>
          </p:cNvPicPr>
          <p:nvPr/>
        </p:nvPicPr>
        <p:blipFill>
          <a:blip r:embed="rId2">
            <a:extLst/>
          </a:blip>
          <a:srcRect l="0" t="0" r="0" b="0"/>
          <a:stretch>
            <a:fillRect/>
          </a:stretch>
        </p:blipFill>
        <p:spPr>
          <a:xfrm>
            <a:off x="57745" y="-986138"/>
            <a:ext cx="24268453" cy="14116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5" y="4314"/>
                </a:moveTo>
                <a:cubicBezTo>
                  <a:pt x="13645" y="4307"/>
                  <a:pt x="16299" y="4318"/>
                  <a:pt x="16413" y="4337"/>
                </a:cubicBezTo>
                <a:lnTo>
                  <a:pt x="16621" y="4370"/>
                </a:lnTo>
                <a:lnTo>
                  <a:pt x="16628" y="4839"/>
                </a:lnTo>
                <a:lnTo>
                  <a:pt x="16634" y="5308"/>
                </a:lnTo>
                <a:lnTo>
                  <a:pt x="18280" y="5320"/>
                </a:lnTo>
                <a:cubicBezTo>
                  <a:pt x="19359" y="5328"/>
                  <a:pt x="19926" y="5347"/>
                  <a:pt x="19926" y="5377"/>
                </a:cubicBezTo>
                <a:cubicBezTo>
                  <a:pt x="19926" y="5407"/>
                  <a:pt x="19357" y="5431"/>
                  <a:pt x="18285" y="5446"/>
                </a:cubicBezTo>
                <a:lnTo>
                  <a:pt x="16643" y="5469"/>
                </a:lnTo>
                <a:lnTo>
                  <a:pt x="16639" y="6898"/>
                </a:lnTo>
                <a:lnTo>
                  <a:pt x="16634" y="8328"/>
                </a:lnTo>
                <a:lnTo>
                  <a:pt x="17558" y="8340"/>
                </a:lnTo>
                <a:cubicBezTo>
                  <a:pt x="18155" y="8348"/>
                  <a:pt x="18481" y="8368"/>
                  <a:pt x="18481" y="8398"/>
                </a:cubicBezTo>
                <a:cubicBezTo>
                  <a:pt x="18481" y="8427"/>
                  <a:pt x="18161" y="8448"/>
                  <a:pt x="17575" y="8455"/>
                </a:cubicBezTo>
                <a:cubicBezTo>
                  <a:pt x="16896" y="8464"/>
                  <a:pt x="16663" y="8481"/>
                  <a:pt x="16651" y="8522"/>
                </a:cubicBezTo>
                <a:cubicBezTo>
                  <a:pt x="16642" y="8552"/>
                  <a:pt x="16635" y="9675"/>
                  <a:pt x="16635" y="11016"/>
                </a:cubicBezTo>
                <a:lnTo>
                  <a:pt x="16634" y="13453"/>
                </a:lnTo>
                <a:lnTo>
                  <a:pt x="17558" y="13465"/>
                </a:lnTo>
                <a:cubicBezTo>
                  <a:pt x="18155" y="13473"/>
                  <a:pt x="18481" y="13493"/>
                  <a:pt x="18481" y="13523"/>
                </a:cubicBezTo>
                <a:cubicBezTo>
                  <a:pt x="18481" y="13552"/>
                  <a:pt x="18153" y="13577"/>
                  <a:pt x="17562" y="13592"/>
                </a:cubicBezTo>
                <a:lnTo>
                  <a:pt x="16643" y="13614"/>
                </a:lnTo>
                <a:lnTo>
                  <a:pt x="16638" y="16108"/>
                </a:lnTo>
                <a:cubicBezTo>
                  <a:pt x="16632" y="18926"/>
                  <a:pt x="16647" y="18717"/>
                  <a:pt x="16454" y="18717"/>
                </a:cubicBezTo>
                <a:cubicBezTo>
                  <a:pt x="16397" y="18717"/>
                  <a:pt x="16344" y="18738"/>
                  <a:pt x="16337" y="18763"/>
                </a:cubicBezTo>
                <a:cubicBezTo>
                  <a:pt x="16322" y="18814"/>
                  <a:pt x="4854" y="18830"/>
                  <a:pt x="4829" y="18778"/>
                </a:cubicBezTo>
                <a:cubicBezTo>
                  <a:pt x="4821" y="18761"/>
                  <a:pt x="4815" y="17588"/>
                  <a:pt x="4815" y="16170"/>
                </a:cubicBezTo>
                <a:lnTo>
                  <a:pt x="4815" y="13593"/>
                </a:lnTo>
                <a:lnTo>
                  <a:pt x="4185" y="13581"/>
                </a:lnTo>
                <a:cubicBezTo>
                  <a:pt x="3784" y="13573"/>
                  <a:pt x="3556" y="13552"/>
                  <a:pt x="3556" y="13523"/>
                </a:cubicBezTo>
                <a:cubicBezTo>
                  <a:pt x="3556" y="13494"/>
                  <a:pt x="3784" y="13473"/>
                  <a:pt x="4185" y="13465"/>
                </a:cubicBezTo>
                <a:lnTo>
                  <a:pt x="4815" y="13453"/>
                </a:lnTo>
                <a:lnTo>
                  <a:pt x="4815" y="10960"/>
                </a:lnTo>
                <a:lnTo>
                  <a:pt x="4815" y="8467"/>
                </a:lnTo>
                <a:lnTo>
                  <a:pt x="4207" y="8455"/>
                </a:lnTo>
                <a:cubicBezTo>
                  <a:pt x="3821" y="8448"/>
                  <a:pt x="3600" y="8427"/>
                  <a:pt x="3600" y="8398"/>
                </a:cubicBezTo>
                <a:cubicBezTo>
                  <a:pt x="3600" y="8368"/>
                  <a:pt x="3821" y="8347"/>
                  <a:pt x="4207" y="8339"/>
                </a:cubicBezTo>
                <a:lnTo>
                  <a:pt x="4815" y="8327"/>
                </a:lnTo>
                <a:lnTo>
                  <a:pt x="4815" y="6888"/>
                </a:lnTo>
                <a:lnTo>
                  <a:pt x="4815" y="5450"/>
                </a:lnTo>
                <a:lnTo>
                  <a:pt x="4667" y="5436"/>
                </a:lnTo>
                <a:cubicBezTo>
                  <a:pt x="4476" y="5419"/>
                  <a:pt x="4476" y="5336"/>
                  <a:pt x="4666" y="5318"/>
                </a:cubicBezTo>
                <a:lnTo>
                  <a:pt x="4813" y="5305"/>
                </a:lnTo>
                <a:lnTo>
                  <a:pt x="4819" y="4815"/>
                </a:lnTo>
                <a:lnTo>
                  <a:pt x="4826" y="4324"/>
                </a:lnTo>
                <a:lnTo>
                  <a:pt x="10515" y="4314"/>
                </a:lnTo>
                <a:close/>
              </a:path>
            </a:pathLst>
          </a:custGeom>
          <a:ln w="12700">
            <a:miter lim="400000"/>
          </a:ln>
        </p:spPr>
      </p:pic>
      <p:sp>
        <p:nvSpPr>
          <p:cNvPr id="184" name="Bill Bowerman’s book, Jogging, was published in 1967.  This book got people running.…"/>
          <p:cNvSpPr txBox="1"/>
          <p:nvPr/>
        </p:nvSpPr>
        <p:spPr>
          <a:xfrm>
            <a:off x="5923612" y="1081619"/>
            <a:ext cx="12536776" cy="102766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b="1" sz="4400" u="sng"/>
            </a:pPr>
          </a:p>
          <a:p>
            <a:pPr>
              <a:defRPr b="1" sz="4400" u="sng"/>
            </a:pPr>
            <a:r>
              <a:rPr u="none"/>
              <a:t>Bill Bowerman’s book, </a:t>
            </a:r>
            <a:r>
              <a:t>Jogging,</a:t>
            </a:r>
            <a:r>
              <a:rPr u="none"/>
              <a:t> was published in 1967.  This book got people running. </a:t>
            </a:r>
            <a:endParaRPr u="none"/>
          </a:p>
          <a:p>
            <a:pPr>
              <a:defRPr sz="4400"/>
            </a:pPr>
            <a:r>
              <a:rPr i="1"/>
              <a:t>“… That silly book about jogging, was done, and out in bookstores. A slight 100 pages, Jogging, preached the gospel of physical exercise to a nation that had never heard that sermon before … Somehow, the book caught fire. It sold a million copies, sparked a movement, changed the very meaning of the word ‘running’. Before long, thanks to Bowerman and his book, running was no longer just for weirdos. It was no longer a cult. It was almost... cool.”</a:t>
            </a:r>
            <a:r>
              <a:t> </a:t>
            </a:r>
          </a:p>
          <a:p>
            <a:pPr>
              <a:defRPr sz="4400"/>
            </a:pPr>
            <a:r>
              <a:t>             - Phil Knight, </a:t>
            </a:r>
            <a:r>
              <a:rPr i="1"/>
              <a:t>Shoe Dog</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6" name="unknown.png" descr="unknown.png"/>
          <p:cNvPicPr>
            <a:picLocks noChangeAspect="0"/>
          </p:cNvPicPr>
          <p:nvPr/>
        </p:nvPicPr>
        <p:blipFill>
          <a:blip r:embed="rId2">
            <a:extLst/>
          </a:blip>
          <a:srcRect l="0" t="0" r="0" b="0"/>
          <a:stretch>
            <a:fillRect/>
          </a:stretch>
        </p:blipFill>
        <p:spPr>
          <a:xfrm>
            <a:off x="57745" y="-986138"/>
            <a:ext cx="24268453" cy="14116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5" y="4314"/>
                </a:moveTo>
                <a:cubicBezTo>
                  <a:pt x="13645" y="4307"/>
                  <a:pt x="16299" y="4318"/>
                  <a:pt x="16413" y="4337"/>
                </a:cubicBezTo>
                <a:lnTo>
                  <a:pt x="16621" y="4370"/>
                </a:lnTo>
                <a:lnTo>
                  <a:pt x="16628" y="4839"/>
                </a:lnTo>
                <a:lnTo>
                  <a:pt x="16634" y="5308"/>
                </a:lnTo>
                <a:lnTo>
                  <a:pt x="18280" y="5320"/>
                </a:lnTo>
                <a:cubicBezTo>
                  <a:pt x="19359" y="5328"/>
                  <a:pt x="19926" y="5347"/>
                  <a:pt x="19926" y="5377"/>
                </a:cubicBezTo>
                <a:cubicBezTo>
                  <a:pt x="19926" y="5407"/>
                  <a:pt x="19357" y="5431"/>
                  <a:pt x="18285" y="5446"/>
                </a:cubicBezTo>
                <a:lnTo>
                  <a:pt x="16643" y="5469"/>
                </a:lnTo>
                <a:lnTo>
                  <a:pt x="16639" y="6898"/>
                </a:lnTo>
                <a:lnTo>
                  <a:pt x="16634" y="8328"/>
                </a:lnTo>
                <a:lnTo>
                  <a:pt x="17558" y="8340"/>
                </a:lnTo>
                <a:cubicBezTo>
                  <a:pt x="18155" y="8348"/>
                  <a:pt x="18481" y="8368"/>
                  <a:pt x="18481" y="8398"/>
                </a:cubicBezTo>
                <a:cubicBezTo>
                  <a:pt x="18481" y="8427"/>
                  <a:pt x="18161" y="8448"/>
                  <a:pt x="17575" y="8455"/>
                </a:cubicBezTo>
                <a:cubicBezTo>
                  <a:pt x="16896" y="8464"/>
                  <a:pt x="16663" y="8481"/>
                  <a:pt x="16651" y="8522"/>
                </a:cubicBezTo>
                <a:cubicBezTo>
                  <a:pt x="16642" y="8552"/>
                  <a:pt x="16635" y="9675"/>
                  <a:pt x="16635" y="11016"/>
                </a:cubicBezTo>
                <a:lnTo>
                  <a:pt x="16634" y="13453"/>
                </a:lnTo>
                <a:lnTo>
                  <a:pt x="17558" y="13465"/>
                </a:lnTo>
                <a:cubicBezTo>
                  <a:pt x="18155" y="13473"/>
                  <a:pt x="18481" y="13493"/>
                  <a:pt x="18481" y="13523"/>
                </a:cubicBezTo>
                <a:cubicBezTo>
                  <a:pt x="18481" y="13552"/>
                  <a:pt x="18153" y="13577"/>
                  <a:pt x="17562" y="13592"/>
                </a:cubicBezTo>
                <a:lnTo>
                  <a:pt x="16643" y="13614"/>
                </a:lnTo>
                <a:lnTo>
                  <a:pt x="16638" y="16108"/>
                </a:lnTo>
                <a:cubicBezTo>
                  <a:pt x="16632" y="18926"/>
                  <a:pt x="16647" y="18717"/>
                  <a:pt x="16454" y="18717"/>
                </a:cubicBezTo>
                <a:cubicBezTo>
                  <a:pt x="16397" y="18717"/>
                  <a:pt x="16344" y="18738"/>
                  <a:pt x="16337" y="18763"/>
                </a:cubicBezTo>
                <a:cubicBezTo>
                  <a:pt x="16322" y="18814"/>
                  <a:pt x="4854" y="18830"/>
                  <a:pt x="4829" y="18778"/>
                </a:cubicBezTo>
                <a:cubicBezTo>
                  <a:pt x="4821" y="18761"/>
                  <a:pt x="4815" y="17588"/>
                  <a:pt x="4815" y="16170"/>
                </a:cubicBezTo>
                <a:lnTo>
                  <a:pt x="4815" y="13593"/>
                </a:lnTo>
                <a:lnTo>
                  <a:pt x="4185" y="13581"/>
                </a:lnTo>
                <a:cubicBezTo>
                  <a:pt x="3784" y="13573"/>
                  <a:pt x="3556" y="13552"/>
                  <a:pt x="3556" y="13523"/>
                </a:cubicBezTo>
                <a:cubicBezTo>
                  <a:pt x="3556" y="13494"/>
                  <a:pt x="3784" y="13473"/>
                  <a:pt x="4185" y="13465"/>
                </a:cubicBezTo>
                <a:lnTo>
                  <a:pt x="4815" y="13453"/>
                </a:lnTo>
                <a:lnTo>
                  <a:pt x="4815" y="10960"/>
                </a:lnTo>
                <a:lnTo>
                  <a:pt x="4815" y="8467"/>
                </a:lnTo>
                <a:lnTo>
                  <a:pt x="4207" y="8455"/>
                </a:lnTo>
                <a:cubicBezTo>
                  <a:pt x="3821" y="8448"/>
                  <a:pt x="3600" y="8427"/>
                  <a:pt x="3600" y="8398"/>
                </a:cubicBezTo>
                <a:cubicBezTo>
                  <a:pt x="3600" y="8368"/>
                  <a:pt x="3821" y="8347"/>
                  <a:pt x="4207" y="8339"/>
                </a:cubicBezTo>
                <a:lnTo>
                  <a:pt x="4815" y="8327"/>
                </a:lnTo>
                <a:lnTo>
                  <a:pt x="4815" y="6888"/>
                </a:lnTo>
                <a:lnTo>
                  <a:pt x="4815" y="5450"/>
                </a:lnTo>
                <a:lnTo>
                  <a:pt x="4667" y="5436"/>
                </a:lnTo>
                <a:cubicBezTo>
                  <a:pt x="4476" y="5419"/>
                  <a:pt x="4476" y="5336"/>
                  <a:pt x="4666" y="5318"/>
                </a:cubicBezTo>
                <a:lnTo>
                  <a:pt x="4813" y="5305"/>
                </a:lnTo>
                <a:lnTo>
                  <a:pt x="4819" y="4815"/>
                </a:lnTo>
                <a:lnTo>
                  <a:pt x="4826" y="4324"/>
                </a:lnTo>
                <a:lnTo>
                  <a:pt x="10515" y="4314"/>
                </a:lnTo>
                <a:close/>
              </a:path>
            </a:pathLst>
          </a:custGeom>
          <a:ln w="12700">
            <a:miter lim="400000"/>
          </a:ln>
        </p:spPr>
      </p:pic>
      <p:sp>
        <p:nvSpPr>
          <p:cNvPr id="187" name="Today people often run for their health.  Doctors now suggest that everyone regularly gets moderate to vigorous exercise.…"/>
          <p:cNvSpPr txBox="1"/>
          <p:nvPr/>
        </p:nvSpPr>
        <p:spPr>
          <a:xfrm>
            <a:off x="5856836" y="2645521"/>
            <a:ext cx="12670329" cy="910919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b="1" sz="4400"/>
            </a:pPr>
            <a:r>
              <a:t>Today people often run for their health.  Doctors now suggest that everyone regularly gets moderate to vigorous exercise. </a:t>
            </a:r>
          </a:p>
          <a:p>
            <a:pPr>
              <a:defRPr sz="4400"/>
            </a:pPr>
            <a:r>
              <a:t>“In a 2014 issue of the Journal of American College of Cardiology”, Lee studied 55,137 adults … and compared the mortality risk between runners and nonrunners.  Runners had a 45% lower risk of cardiovascular motality and a 3-year increase in life expectancy over nonrunners during a 15 year follow-up.”</a:t>
            </a:r>
            <a:br/>
            <a:br/>
            <a:r>
              <a:t>    -  S. Robert Lathan, MD 2023</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9" name="unknown.png" descr="unknown.png"/>
          <p:cNvPicPr>
            <a:picLocks noChangeAspect="0"/>
          </p:cNvPicPr>
          <p:nvPr/>
        </p:nvPicPr>
        <p:blipFill>
          <a:blip r:embed="rId2">
            <a:extLst/>
          </a:blip>
          <a:stretch>
            <a:fillRect/>
          </a:stretch>
        </p:blipFill>
        <p:spPr>
          <a:xfrm>
            <a:off x="-120952" y="-986138"/>
            <a:ext cx="24112085" cy="11439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5" y="4313"/>
                </a:moveTo>
                <a:cubicBezTo>
                  <a:pt x="13645" y="4307"/>
                  <a:pt x="16299" y="4318"/>
                  <a:pt x="16413" y="4337"/>
                </a:cubicBezTo>
                <a:lnTo>
                  <a:pt x="16621" y="4370"/>
                </a:lnTo>
                <a:lnTo>
                  <a:pt x="16628" y="4839"/>
                </a:lnTo>
                <a:lnTo>
                  <a:pt x="16634" y="5308"/>
                </a:lnTo>
                <a:lnTo>
                  <a:pt x="18280" y="5320"/>
                </a:lnTo>
                <a:cubicBezTo>
                  <a:pt x="19359" y="5328"/>
                  <a:pt x="19926" y="5347"/>
                  <a:pt x="19926" y="5377"/>
                </a:cubicBezTo>
                <a:cubicBezTo>
                  <a:pt x="19926" y="5407"/>
                  <a:pt x="19357" y="5431"/>
                  <a:pt x="18284" y="5446"/>
                </a:cubicBezTo>
                <a:lnTo>
                  <a:pt x="16643" y="5469"/>
                </a:lnTo>
                <a:lnTo>
                  <a:pt x="16639" y="6898"/>
                </a:lnTo>
                <a:lnTo>
                  <a:pt x="16634" y="8328"/>
                </a:lnTo>
                <a:lnTo>
                  <a:pt x="17558" y="8340"/>
                </a:lnTo>
                <a:cubicBezTo>
                  <a:pt x="18155" y="8348"/>
                  <a:pt x="18481" y="8368"/>
                  <a:pt x="18481" y="8398"/>
                </a:cubicBezTo>
                <a:cubicBezTo>
                  <a:pt x="18481" y="8427"/>
                  <a:pt x="18161" y="8447"/>
                  <a:pt x="17574" y="8455"/>
                </a:cubicBezTo>
                <a:cubicBezTo>
                  <a:pt x="16896" y="8464"/>
                  <a:pt x="16663" y="8481"/>
                  <a:pt x="16651" y="8522"/>
                </a:cubicBezTo>
                <a:cubicBezTo>
                  <a:pt x="16642" y="8552"/>
                  <a:pt x="16634" y="9674"/>
                  <a:pt x="16634" y="11015"/>
                </a:cubicBezTo>
                <a:lnTo>
                  <a:pt x="16634" y="13453"/>
                </a:lnTo>
                <a:lnTo>
                  <a:pt x="17558" y="13465"/>
                </a:lnTo>
                <a:cubicBezTo>
                  <a:pt x="18155" y="13472"/>
                  <a:pt x="18481" y="13493"/>
                  <a:pt x="18481" y="13522"/>
                </a:cubicBezTo>
                <a:cubicBezTo>
                  <a:pt x="18481" y="13552"/>
                  <a:pt x="18153" y="13577"/>
                  <a:pt x="17562" y="13591"/>
                </a:cubicBezTo>
                <a:lnTo>
                  <a:pt x="16643" y="13615"/>
                </a:lnTo>
                <a:lnTo>
                  <a:pt x="16638" y="16109"/>
                </a:lnTo>
                <a:cubicBezTo>
                  <a:pt x="16632" y="18926"/>
                  <a:pt x="16647" y="18717"/>
                  <a:pt x="16454" y="18717"/>
                </a:cubicBezTo>
                <a:cubicBezTo>
                  <a:pt x="16397" y="18717"/>
                  <a:pt x="16344" y="18738"/>
                  <a:pt x="16337" y="18763"/>
                </a:cubicBezTo>
                <a:cubicBezTo>
                  <a:pt x="16322" y="18815"/>
                  <a:pt x="4854" y="18829"/>
                  <a:pt x="4829" y="18778"/>
                </a:cubicBezTo>
                <a:cubicBezTo>
                  <a:pt x="4821" y="18761"/>
                  <a:pt x="4815" y="17588"/>
                  <a:pt x="4815" y="16170"/>
                </a:cubicBezTo>
                <a:lnTo>
                  <a:pt x="4815" y="13593"/>
                </a:lnTo>
                <a:lnTo>
                  <a:pt x="4185" y="13581"/>
                </a:lnTo>
                <a:cubicBezTo>
                  <a:pt x="3784" y="13573"/>
                  <a:pt x="3556" y="13552"/>
                  <a:pt x="3556" y="13522"/>
                </a:cubicBezTo>
                <a:cubicBezTo>
                  <a:pt x="3556" y="13493"/>
                  <a:pt x="3784" y="13473"/>
                  <a:pt x="4185" y="13465"/>
                </a:cubicBezTo>
                <a:lnTo>
                  <a:pt x="4815" y="13453"/>
                </a:lnTo>
                <a:lnTo>
                  <a:pt x="4815" y="10960"/>
                </a:lnTo>
                <a:lnTo>
                  <a:pt x="4815" y="8467"/>
                </a:lnTo>
                <a:lnTo>
                  <a:pt x="4207" y="8455"/>
                </a:lnTo>
                <a:cubicBezTo>
                  <a:pt x="3821" y="8447"/>
                  <a:pt x="3600" y="8427"/>
                  <a:pt x="3600" y="8398"/>
                </a:cubicBezTo>
                <a:cubicBezTo>
                  <a:pt x="3600" y="8368"/>
                  <a:pt x="3821" y="8348"/>
                  <a:pt x="4207" y="8340"/>
                </a:cubicBezTo>
                <a:lnTo>
                  <a:pt x="4815" y="8327"/>
                </a:lnTo>
                <a:lnTo>
                  <a:pt x="4815" y="6888"/>
                </a:lnTo>
                <a:lnTo>
                  <a:pt x="4815" y="5450"/>
                </a:lnTo>
                <a:lnTo>
                  <a:pt x="4667" y="5437"/>
                </a:lnTo>
                <a:cubicBezTo>
                  <a:pt x="4476" y="5419"/>
                  <a:pt x="4476" y="5335"/>
                  <a:pt x="4666" y="5318"/>
                </a:cubicBezTo>
                <a:lnTo>
                  <a:pt x="4813" y="5304"/>
                </a:lnTo>
                <a:lnTo>
                  <a:pt x="4819" y="4815"/>
                </a:lnTo>
                <a:lnTo>
                  <a:pt x="4826" y="4325"/>
                </a:lnTo>
                <a:lnTo>
                  <a:pt x="10515" y="4313"/>
                </a:lnTo>
                <a:close/>
              </a:path>
            </a:pathLst>
          </a:custGeom>
          <a:ln w="12700">
            <a:miter lim="400000"/>
          </a:ln>
        </p:spPr>
      </p:pic>
      <p:sp>
        <p:nvSpPr>
          <p:cNvPr id="190" name="Before the running revolution, girls track did not even exist. Today, it is the most popular girls high school sport and second on the boys side. Bowerman Track Club in Portland, OR is one of the best youth track clubs in the nation."/>
          <p:cNvSpPr txBox="1"/>
          <p:nvPr/>
        </p:nvSpPr>
        <p:spPr>
          <a:xfrm>
            <a:off x="5929172" y="2662956"/>
            <a:ext cx="12011893" cy="50557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4400"/>
            </a:lvl1pPr>
          </a:lstStyle>
          <a:p>
            <a:pPr/>
            <a:r>
              <a:t>Before the running revolution, girls track did not even exist. Today, it is the most popular girls high school sport and second on the boys side. Bowerman Track Club in Portland, OR is one of the best youth track clubs in the nation.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2" name="unknown.png" descr="unknown.png"/>
          <p:cNvPicPr>
            <a:picLocks noChangeAspect="0"/>
          </p:cNvPicPr>
          <p:nvPr/>
        </p:nvPicPr>
        <p:blipFill>
          <a:blip r:embed="rId2">
            <a:extLst/>
          </a:blip>
          <a:srcRect l="0" t="0" r="0" b="0"/>
          <a:stretch>
            <a:fillRect/>
          </a:stretch>
        </p:blipFill>
        <p:spPr>
          <a:xfrm>
            <a:off x="-171752" y="-452739"/>
            <a:ext cx="24004191" cy="114847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800"/>
                </a:lnTo>
                <a:lnTo>
                  <a:pt x="0" y="21600"/>
                </a:lnTo>
                <a:lnTo>
                  <a:pt x="10800" y="21600"/>
                </a:lnTo>
                <a:lnTo>
                  <a:pt x="21600" y="21600"/>
                </a:lnTo>
                <a:lnTo>
                  <a:pt x="21600" y="10800"/>
                </a:lnTo>
                <a:lnTo>
                  <a:pt x="21600" y="0"/>
                </a:lnTo>
                <a:lnTo>
                  <a:pt x="10800" y="0"/>
                </a:lnTo>
                <a:lnTo>
                  <a:pt x="0" y="0"/>
                </a:lnTo>
                <a:close/>
                <a:moveTo>
                  <a:pt x="10516" y="4314"/>
                </a:moveTo>
                <a:cubicBezTo>
                  <a:pt x="13645" y="4308"/>
                  <a:pt x="16299" y="4318"/>
                  <a:pt x="16413" y="4337"/>
                </a:cubicBezTo>
                <a:lnTo>
                  <a:pt x="16621" y="4370"/>
                </a:lnTo>
                <a:lnTo>
                  <a:pt x="16628" y="4839"/>
                </a:lnTo>
                <a:lnTo>
                  <a:pt x="16634" y="5308"/>
                </a:lnTo>
                <a:lnTo>
                  <a:pt x="18280" y="5320"/>
                </a:lnTo>
                <a:cubicBezTo>
                  <a:pt x="19359" y="5327"/>
                  <a:pt x="19926" y="5347"/>
                  <a:pt x="19926" y="5377"/>
                </a:cubicBezTo>
                <a:cubicBezTo>
                  <a:pt x="19926" y="5407"/>
                  <a:pt x="19357" y="5431"/>
                  <a:pt x="18284" y="5446"/>
                </a:cubicBezTo>
                <a:lnTo>
                  <a:pt x="16643" y="5469"/>
                </a:lnTo>
                <a:lnTo>
                  <a:pt x="16639" y="6898"/>
                </a:lnTo>
                <a:lnTo>
                  <a:pt x="16635" y="8328"/>
                </a:lnTo>
                <a:lnTo>
                  <a:pt x="17558" y="8340"/>
                </a:lnTo>
                <a:cubicBezTo>
                  <a:pt x="18155" y="8348"/>
                  <a:pt x="18482" y="8368"/>
                  <a:pt x="18482" y="8397"/>
                </a:cubicBezTo>
                <a:cubicBezTo>
                  <a:pt x="18482" y="8427"/>
                  <a:pt x="18161" y="8448"/>
                  <a:pt x="17574" y="8455"/>
                </a:cubicBezTo>
                <a:cubicBezTo>
                  <a:pt x="16896" y="8464"/>
                  <a:pt x="16663" y="8481"/>
                  <a:pt x="16651" y="8523"/>
                </a:cubicBezTo>
                <a:cubicBezTo>
                  <a:pt x="16642" y="8553"/>
                  <a:pt x="16635" y="9675"/>
                  <a:pt x="16635" y="11016"/>
                </a:cubicBezTo>
                <a:lnTo>
                  <a:pt x="16634" y="13454"/>
                </a:lnTo>
                <a:lnTo>
                  <a:pt x="17558" y="13465"/>
                </a:lnTo>
                <a:cubicBezTo>
                  <a:pt x="18155" y="13473"/>
                  <a:pt x="18482" y="13493"/>
                  <a:pt x="18482" y="13523"/>
                </a:cubicBezTo>
                <a:cubicBezTo>
                  <a:pt x="18482" y="13552"/>
                  <a:pt x="18153" y="13577"/>
                  <a:pt x="17562" y="13592"/>
                </a:cubicBezTo>
                <a:lnTo>
                  <a:pt x="16643" y="13615"/>
                </a:lnTo>
                <a:lnTo>
                  <a:pt x="16638" y="16109"/>
                </a:lnTo>
                <a:cubicBezTo>
                  <a:pt x="16632" y="18926"/>
                  <a:pt x="16647" y="18717"/>
                  <a:pt x="16454" y="18717"/>
                </a:cubicBezTo>
                <a:cubicBezTo>
                  <a:pt x="16397" y="18717"/>
                  <a:pt x="16344" y="18738"/>
                  <a:pt x="16337" y="18763"/>
                </a:cubicBezTo>
                <a:cubicBezTo>
                  <a:pt x="16322" y="18815"/>
                  <a:pt x="4854" y="18829"/>
                  <a:pt x="4829" y="18778"/>
                </a:cubicBezTo>
                <a:cubicBezTo>
                  <a:pt x="4821" y="18761"/>
                  <a:pt x="4815" y="17588"/>
                  <a:pt x="4815" y="16171"/>
                </a:cubicBezTo>
                <a:lnTo>
                  <a:pt x="4815" y="13593"/>
                </a:lnTo>
                <a:lnTo>
                  <a:pt x="4186" y="13581"/>
                </a:lnTo>
                <a:cubicBezTo>
                  <a:pt x="3785" y="13573"/>
                  <a:pt x="3556" y="13552"/>
                  <a:pt x="3556" y="13523"/>
                </a:cubicBezTo>
                <a:cubicBezTo>
                  <a:pt x="3556" y="13494"/>
                  <a:pt x="3785" y="13472"/>
                  <a:pt x="4186" y="13465"/>
                </a:cubicBezTo>
                <a:lnTo>
                  <a:pt x="4815" y="13453"/>
                </a:lnTo>
                <a:lnTo>
                  <a:pt x="4815" y="10960"/>
                </a:lnTo>
                <a:lnTo>
                  <a:pt x="4815" y="8467"/>
                </a:lnTo>
                <a:lnTo>
                  <a:pt x="4207" y="8455"/>
                </a:lnTo>
                <a:cubicBezTo>
                  <a:pt x="3821" y="8448"/>
                  <a:pt x="3600" y="8426"/>
                  <a:pt x="3600" y="8397"/>
                </a:cubicBezTo>
                <a:cubicBezTo>
                  <a:pt x="3600" y="8368"/>
                  <a:pt x="3821" y="8348"/>
                  <a:pt x="4207" y="8340"/>
                </a:cubicBezTo>
                <a:lnTo>
                  <a:pt x="4815" y="8327"/>
                </a:lnTo>
                <a:lnTo>
                  <a:pt x="4815" y="6889"/>
                </a:lnTo>
                <a:lnTo>
                  <a:pt x="4815" y="5450"/>
                </a:lnTo>
                <a:lnTo>
                  <a:pt x="4667" y="5436"/>
                </a:lnTo>
                <a:cubicBezTo>
                  <a:pt x="4476" y="5419"/>
                  <a:pt x="4475" y="5336"/>
                  <a:pt x="4666" y="5318"/>
                </a:cubicBezTo>
                <a:lnTo>
                  <a:pt x="4813" y="5304"/>
                </a:lnTo>
                <a:lnTo>
                  <a:pt x="4819" y="4814"/>
                </a:lnTo>
                <a:lnTo>
                  <a:pt x="4825" y="4325"/>
                </a:lnTo>
                <a:lnTo>
                  <a:pt x="10516" y="4314"/>
                </a:lnTo>
                <a:close/>
              </a:path>
            </a:pathLst>
          </a:custGeom>
          <a:ln w="12700">
            <a:miter lim="400000"/>
          </a:ln>
        </p:spPr>
      </p:pic>
      <p:sp>
        <p:nvSpPr>
          <p:cNvPr id="193" name="Today there are many community races.  Almost every weekend you could find 5K or other distance race.  There are many races that are associated with holidays, like Turkey Trots, Halloween Dash Bashes, or Shamrock Runs. They are part of community traditio"/>
          <p:cNvSpPr txBox="1"/>
          <p:nvPr/>
        </p:nvSpPr>
        <p:spPr>
          <a:xfrm>
            <a:off x="6086149" y="2923891"/>
            <a:ext cx="11835357" cy="62934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4400"/>
            </a:lvl1pPr>
          </a:lstStyle>
          <a:p>
            <a:pPr/>
            <a:r>
              <a:t>Today there are many community races.  Almost every weekend you could find 5K or other distance race.  There are many races that are associated with holidays, like Turkey Trots, Halloween Dash Bashes, or Shamrock Runs. They are part of community traditions and neighborhood get-togethers.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Text"/>
          <p:cNvSpPr txBox="1"/>
          <p:nvPr/>
        </p:nvSpPr>
        <p:spPr>
          <a:xfrm>
            <a:off x="924330" y="5471409"/>
            <a:ext cx="10804552" cy="820518"/>
          </a:xfrm>
          <a:prstGeom prst="rect">
            <a:avLst/>
          </a:prstGeom>
          <a:ln w="12700">
            <a:miter lim="400000"/>
          </a:ln>
        </p:spPr>
        <p:txBody>
          <a:bodyPr lIns="50800" tIns="50800" rIns="50800" bIns="50800" anchor="ctr">
            <a:spAutoFit/>
          </a:bodyPr>
          <a:lstStyle/>
          <a:p>
            <a:pPr>
              <a:defRPr b="1"/>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7" name="pasted-movie.png" descr="pasted-movie.png"/>
          <p:cNvPicPr>
            <a:picLocks noChangeAspect="1"/>
          </p:cNvPicPr>
          <p:nvPr/>
        </p:nvPicPr>
        <p:blipFill>
          <a:blip r:embed="rId2">
            <a:extLst/>
          </a:blip>
          <a:stretch>
            <a:fillRect/>
          </a:stretch>
        </p:blipFill>
        <p:spPr>
          <a:xfrm>
            <a:off x="5194102" y="6543574"/>
            <a:ext cx="7404001" cy="5719302"/>
          </a:xfrm>
          <a:prstGeom prst="rect">
            <a:avLst/>
          </a:prstGeom>
          <a:ln w="12700">
            <a:miter lim="400000"/>
          </a:ln>
        </p:spPr>
      </p:pic>
      <p:pic>
        <p:nvPicPr>
          <p:cNvPr id="198" name="pasted-movie.png" descr="pasted-movie.png"/>
          <p:cNvPicPr>
            <a:picLocks noChangeAspect="1"/>
          </p:cNvPicPr>
          <p:nvPr/>
        </p:nvPicPr>
        <p:blipFill>
          <a:blip r:embed="rId3">
            <a:extLst/>
          </a:blip>
          <a:stretch>
            <a:fillRect/>
          </a:stretch>
        </p:blipFill>
        <p:spPr>
          <a:xfrm>
            <a:off x="8946061" y="1518245"/>
            <a:ext cx="5181138" cy="4833150"/>
          </a:xfrm>
          <a:prstGeom prst="rect">
            <a:avLst/>
          </a:prstGeom>
          <a:ln w="12700">
            <a:miter lim="400000"/>
          </a:ln>
        </p:spPr>
      </p:pic>
      <p:pic>
        <p:nvPicPr>
          <p:cNvPr id="199" name="pasted-movie.png" descr="pasted-movie.png"/>
          <p:cNvPicPr>
            <a:picLocks noChangeAspect="1"/>
          </p:cNvPicPr>
          <p:nvPr/>
        </p:nvPicPr>
        <p:blipFill>
          <a:blip r:embed="rId4">
            <a:extLst/>
          </a:blip>
          <a:stretch>
            <a:fillRect/>
          </a:stretch>
        </p:blipFill>
        <p:spPr>
          <a:xfrm>
            <a:off x="3347264" y="1518245"/>
            <a:ext cx="5218402" cy="483315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Before the Revolution…"/>
          <p:cNvSpPr txBox="1"/>
          <p:nvPr/>
        </p:nvSpPr>
        <p:spPr>
          <a:xfrm>
            <a:off x="565622" y="810437"/>
            <a:ext cx="20142449" cy="68720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b="1" sz="6300"/>
            </a:pPr>
            <a:r>
              <a:t>Before the Revolution</a:t>
            </a:r>
          </a:p>
          <a:p>
            <a:pPr>
              <a:defRPr b="1" sz="6300"/>
            </a:pPr>
            <a:r>
              <a:t>Bowerman’s Running Clubs Kickstart a Revolution</a:t>
            </a:r>
          </a:p>
          <a:p>
            <a:pPr>
              <a:defRPr b="1" sz="6300"/>
            </a:pPr>
            <a:r>
              <a:t>A Short Biography of Bill Bowerman</a:t>
            </a:r>
          </a:p>
          <a:p>
            <a:pPr>
              <a:defRPr b="1" sz="6300"/>
            </a:pPr>
            <a:r>
              <a:t>The Book that Got America Running</a:t>
            </a:r>
          </a:p>
          <a:p>
            <a:pPr>
              <a:defRPr b="1" sz="6300"/>
            </a:pPr>
            <a:r>
              <a:t>Nike Capitalizes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